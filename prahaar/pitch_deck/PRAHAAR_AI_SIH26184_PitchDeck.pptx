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SMART INDIA HACKATHON 2026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PROJECT PRAHAAR-AI</a:t>
            </a:r>
          </a:p>
          <a:p>
            <a:pPr>
              <a:defRPr sz="1800">
                <a:solidFill>
                  <a:srgbClr val="00F2FE"/>
                </a:solidFill>
              </a:defRPr>
            </a:pPr>
            <a:r>
              <a:t>Predictive Real-time Analytics &amp; Hotspot Action for Anti-fraud Recovery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Problem Statement ID: SIH26184 | Ministry of Home Affairs (MHA) / I4C</a:t>
            </a:r>
            <a:br/>
            <a:r>
              <a:t>Theme: Blockchain &amp; Cybersecurity | Category: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SIH 2026 | PS: SIH26184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Real-World Crisis: Cyber Fraud &amp; The 'Golden Hour'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 b="1">
                <a:solidFill>
                  <a:srgbClr val="00F2FE"/>
                </a:solidFill>
              </a:defRPr>
            </a:pPr>
            <a:r>
              <a:t>•  The 'Golden Hour' Vulnerability: </a:t>
            </a:r>
            <a:r>
              <a:rPr b="0">
                <a:solidFill>
                  <a:srgbClr val="F8FAFC"/>
                </a:solidFill>
              </a:rPr>
              <a:t>When victims report cyber scams to 1930 / NCRP, illicit funds are rapidly dispersed across Layer 1 -&gt; Layer 2 -&gt; Layer 3 mule accounts.</a:t>
            </a:r>
          </a:p>
          <a:p>
            <a:pPr>
              <a:spcAft>
                <a:spcPts val="1200"/>
              </a:spcAft>
              <a:defRPr sz="1500" b="1">
                <a:solidFill>
                  <a:srgbClr val="00F2FE"/>
                </a:solidFill>
              </a:defRPr>
            </a:pPr>
            <a:r>
              <a:t>•  Fast Physical Cash Extraction: </a:t>
            </a:r>
            <a:r>
              <a:rPr b="0">
                <a:solidFill>
                  <a:srgbClr val="F8FAFC"/>
                </a:solidFill>
              </a:rPr>
              <a:t>Within 30 to 90 minutes, organized syndicates physically withdraw cash from ATMs and CSP kiosks in remote cybercrime hubs (Mewat, Jamtara, Alwar, Deoghar).</a:t>
            </a:r>
          </a:p>
          <a:p>
            <a:pPr>
              <a:spcAft>
                <a:spcPts val="1200"/>
              </a:spcAft>
              <a:defRPr sz="1500" b="1">
                <a:solidFill>
                  <a:srgbClr val="00F2FE"/>
                </a:solidFill>
              </a:defRPr>
            </a:pPr>
            <a:r>
              <a:t>•  Flaw in Existing Paradigm: </a:t>
            </a:r>
            <a:r>
              <a:rPr b="0">
                <a:solidFill>
                  <a:srgbClr val="F8FAFC"/>
                </a:solidFill>
              </a:rPr>
              <a:t>Current Law Enforcement systems are 100% reactive. By the time debit-freeze notices reach banks, accounts are already emptied.</a:t>
            </a:r>
          </a:p>
          <a:p>
            <a:pPr>
              <a:spcAft>
                <a:spcPts val="1200"/>
              </a:spcAft>
              <a:defRPr sz="1500" b="1">
                <a:solidFill>
                  <a:srgbClr val="00F2FE"/>
                </a:solidFill>
              </a:defRPr>
            </a:pPr>
            <a:r>
              <a:t>•  Missing Intelligence Layer: </a:t>
            </a:r>
            <a:r>
              <a:rPr b="0">
                <a:solidFill>
                  <a:srgbClr val="F8FAFC"/>
                </a:solidFill>
              </a:rPr>
              <a:t>No existing system predicts WHERE and WHEN cash will be withdrawn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SIH 2026 | PS: SIH26184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Solution: Proactive Predictive Interception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✔  MuleGraph™ Multi-Hop Traversal: </a:t>
            </a:r>
            <a:r>
              <a:rPr b="0">
                <a:solidFill>
                  <a:srgbClr val="F8FAFC"/>
                </a:solidFill>
              </a:rPr>
              <a:t>Constructs real-time transaction graphs to detect smurfing rings, synthetic KYC accounts, and terminal cashout nodes in &lt;50 ms.</a:t>
            </a:r>
          </a:p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✔  Spatio-Temporal Cashout Forecaster: </a:t>
            </a:r>
            <a:r>
              <a:rPr b="0">
                <a:solidFill>
                  <a:srgbClr val="F8FAFC"/>
                </a:solidFill>
              </a:rPr>
              <a:t>Combines spatial KDE, transaction velocity, and ATM risk indices to predict target ATM/CSP coordinates 15–45 minutes in advance.</a:t>
            </a:r>
          </a:p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✔  Tactical Cyber Command Center: </a:t>
            </a:r>
            <a:r>
              <a:rPr b="0">
                <a:solidFill>
                  <a:srgbClr val="F8FAFC"/>
                </a:solidFill>
              </a:rPr>
              <a:t>Dark-mode GIS live map with pulsing danger zones, real-time 1930 stream, and 1-click incident triage.</a:t>
            </a:r>
          </a:p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✔  Field Officer Tactical Mobile PWA: </a:t>
            </a:r>
            <a:r>
              <a:rPr b="0">
                <a:solidFill>
                  <a:srgbClr val="F8FAFC"/>
                </a:solidFill>
              </a:rPr>
              <a:t>Push dispatch to on-duty PCR vans and beat patrol cops with GPS navigation and suspect profiles.</a:t>
            </a:r>
          </a:p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✔  Automated Legal Compliance: </a:t>
            </a:r>
            <a:r>
              <a:rPr b="0">
                <a:solidFill>
                  <a:srgbClr val="F8FAFC"/>
                </a:solidFill>
              </a:rPr>
              <a:t>Instant 1-click Section 106 BNSS 2023 / Section 102 CrPC debit freeze notice generation for Bank Nodal Officers.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SIH 2026 | PS: SIH26184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Technical Architecture &amp;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    1. INGESTION LAYER:</a:t>
            </a:r>
            <a:br/>
            <a:r>
              <a:t>       • Real-time WebSocket &amp; REST connector streaming 1930 / NCRP complaint payloads.</a:t>
            </a:r>
            <a:br/>
            <a:r>
              <a:t>       • Automatic data sanitization &amp; tokenized hashing of PII data.</a:t>
            </a:r>
            <a:br/>
            <a:br/>
            <a:r>
              <a:t>    2. INTELLIGENCE CORE:</a:t>
            </a:r>
            <a:br/>
            <a:r>
              <a:t>       • MuleGraph Engine: Directed multi-graph analytics using NetworkX &amp; PageRank algorithms.</a:t>
            </a:r>
            <a:br/>
            <a:r>
              <a:t>       • Spatial Forecaster: Spatio-temporal model computing ATM vulnerability &amp; cash capacity.</a:t>
            </a:r>
            <a:br/>
            <a:r>
              <a:t>       • Risk Fusion Core: Generates composite confidence score &amp; Estimated Time to Withdrawal (ETW).</a:t>
            </a:r>
            <a:br/>
            <a:br/>
            <a:r>
              <a:t>    3. ACTION &amp; INTERCEPTION LAYER:</a:t>
            </a:r>
            <a:br/>
            <a:r>
              <a:t>       • Tactical Command Center Dashboard (HTML5, Leaflet GIS, Vis.js).</a:t>
            </a:r>
            <a:br/>
            <a:r>
              <a:t>       • Field Beat Officer PWA for real-time mobile push dispatch.</a:t>
            </a:r>
            <a:br/>
            <a:r>
              <a:t>       • Legal Freeze Engine: Digitally verifiable Section 106 BNSS / Section 102 CrPC orders.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SIH 2026 | PS: SIH26184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Why PRAHAAR-AI Stands Out (Competitive Advantage)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    • RESPONSE MODEL:</a:t>
            </a:r>
            <a:br/>
            <a:r>
              <a:t>      Standard Systems: Reactive investigation after cash has already left the bank.</a:t>
            </a:r>
            <a:br/>
            <a:r>
              <a:t>      PRAHAAR-AI: Proactive 15–45 minute pre-withdrawal forecast during the Golden Hour.</a:t>
            </a:r>
            <a:br/>
            <a:br/>
            <a:r>
              <a:t>    • MULE NETWORK DETECTION:</a:t>
            </a:r>
            <a:br/>
            <a:r>
              <a:t>      Standard Systems: Single-hop account searches.</a:t>
            </a:r>
            <a:br/>
            <a:r>
              <a:t>      PRAHAAR-AI: Multi-tier graph traversal (Layer 1 -&gt; 2 -&gt; 3) and automated ring detection.</a:t>
            </a:r>
            <a:br/>
            <a:br/>
            <a:r>
              <a:t>    • GEOSPATIAL INTELLIGENCE:</a:t>
            </a:r>
            <a:br/>
            <a:r>
              <a:t>      Standard Systems: Broad city/state logs.</a:t>
            </a:r>
            <a:br/>
            <a:r>
              <a:t>      PRAHAAR-AI: Specific ATM Terminal ID, geocodes, and 800m confidence cordon radius.</a:t>
            </a:r>
            <a:br/>
            <a:br/>
            <a:r>
              <a:t>    • LAW ENFORCEMENT DISPATCH:</a:t>
            </a:r>
            <a:br/>
            <a:r>
              <a:t>      Standard Systems: Manual phone calls &amp; delayed emails.</a:t>
            </a:r>
            <a:br/>
            <a:r>
              <a:t>      PRAHAAR-AI: 1-Click direct dispatch to nearest PCR patrol vehicle &amp; beat officer PWA.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